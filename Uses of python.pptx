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23C1-8441-235D-7D6E-6073F60029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215BE8-EF6B-C27B-3846-8332910BA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F6828C-39B5-375C-0C4F-1D6CDFBC79BB}"/>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2590BDEC-29C1-4E8F-F1C2-601D4FB990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37AF38-34A6-ACCF-A773-67BEED3A7549}"/>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147705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1598-F78A-8A0D-1C72-64FFB33C57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ED1389-4DD0-6EA6-4193-96104C827A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B9FE92-65E3-2974-7747-14AAE8B5D463}"/>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70114165-FC2A-2209-42C0-266137210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0E71E2-4857-C715-3863-A0D2A71713F7}"/>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856238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E394-CB6C-6016-4B6F-E566834D4A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513788-93D1-F71A-8140-F0F47657EB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D50CE4-CF40-6D2C-2B86-A06FC8C8DAF7}"/>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9028C58F-724F-DD6C-04AD-9A58DC5411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6334F5-8AF0-809B-8B77-AB04B846969E}"/>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1000287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9E56-2781-BA13-1FE1-FCE17EA6E7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B8B7D0-766E-5C73-A8AD-40F1F788CC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932B27-F22F-ACED-56F3-1F3293AEBA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B4F43C-9CB2-E001-7433-75138A4763ED}"/>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6" name="Footer Placeholder 5">
            <a:extLst>
              <a:ext uri="{FF2B5EF4-FFF2-40B4-BE49-F238E27FC236}">
                <a16:creationId xmlns:a16="http://schemas.microsoft.com/office/drawing/2014/main" id="{74C35F10-F002-F19C-DAD0-CA1178D7C4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BC434B-0F63-F880-E329-B296116567BC}"/>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1796029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32D5-0B50-A2B2-A0BD-FB98F2F2CA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C4228D-A7D5-1545-7BB5-2A76C80C6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269394-6A6D-E961-12FE-1492DF6C7A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19222D-2C27-956F-88A8-C94E70E7E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7110CD-D85E-45F0-F410-FBD6B6D1AC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830BBC-AC27-E95F-0FA0-061DAD07095A}"/>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8" name="Footer Placeholder 7">
            <a:extLst>
              <a:ext uri="{FF2B5EF4-FFF2-40B4-BE49-F238E27FC236}">
                <a16:creationId xmlns:a16="http://schemas.microsoft.com/office/drawing/2014/main" id="{89C9096F-54DA-ED7F-F4B5-C3A238AA02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ADF839-7BE3-9C64-7A9D-1867AE04EBBC}"/>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386002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7C402-FBFF-CF8A-6A02-9763027A3D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D5BED0-DC4D-7F33-C9D3-015DA748C677}"/>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4" name="Footer Placeholder 3">
            <a:extLst>
              <a:ext uri="{FF2B5EF4-FFF2-40B4-BE49-F238E27FC236}">
                <a16:creationId xmlns:a16="http://schemas.microsoft.com/office/drawing/2014/main" id="{7526CBDE-2A0E-9F3A-0E49-427B9B6A97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5134B0-8BE3-1A82-9AAA-832D30019152}"/>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907253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1453EE-B284-4DE2-B4AE-DBDF902294AB}"/>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3" name="Footer Placeholder 2">
            <a:extLst>
              <a:ext uri="{FF2B5EF4-FFF2-40B4-BE49-F238E27FC236}">
                <a16:creationId xmlns:a16="http://schemas.microsoft.com/office/drawing/2014/main" id="{AD6DFB8E-DD3F-6F1B-625E-76EF0ED402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2D4123-F7E2-99F4-6DFE-231881910E78}"/>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4161231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3E8B-7AF6-9F46-7F47-4D08E5AE09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B19AF0-AB55-0D30-ECF5-40F33AAB4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395FF2-81EA-40A8-CC2C-28A3BEAFA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952330-B6F9-CC8B-F406-8DD1869E6832}"/>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6" name="Footer Placeholder 5">
            <a:extLst>
              <a:ext uri="{FF2B5EF4-FFF2-40B4-BE49-F238E27FC236}">
                <a16:creationId xmlns:a16="http://schemas.microsoft.com/office/drawing/2014/main" id="{FD0588D4-9133-951E-1527-E52E31EEF2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D10CE-050F-A380-94AF-76D021055457}"/>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419981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292F-03CF-ACBB-A3BA-CF58DC68D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CD4099-78E5-0EDC-C74A-F81D6CAB31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15476E6-FF6D-9BEE-3225-750C4AA76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5FFDF-3B4E-1D07-E23A-DDBC332EB4AE}"/>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6" name="Footer Placeholder 5">
            <a:extLst>
              <a:ext uri="{FF2B5EF4-FFF2-40B4-BE49-F238E27FC236}">
                <a16:creationId xmlns:a16="http://schemas.microsoft.com/office/drawing/2014/main" id="{B4BA7B8D-C6C5-0717-EF16-2CA62417B0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34450E-EC98-7B2C-52A2-19BD813D4066}"/>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1894869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2BC5-D297-80BF-480C-F793D2E0AA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364112-32E8-53C9-C0C0-3475F2E31D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029C6A-8CAF-29B6-EC58-DB8EB31A1EAE}"/>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680888FE-4AB2-F577-0159-9814D7A5CB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670F88-F6C6-72E3-C65C-56AC7F5273E2}"/>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4118508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6D6E35-5017-AAED-1257-3841764E0B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C2B3EF-20F2-2AFE-B110-B92380E4A6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CADAEF-D7DF-6D51-2ED1-44015E0580FC}"/>
              </a:ext>
            </a:extLst>
          </p:cNvPr>
          <p:cNvSpPr>
            <a:spLocks noGrp="1"/>
          </p:cNvSpPr>
          <p:nvPr>
            <p:ph type="dt" sz="half" idx="10"/>
          </p:nvPr>
        </p:nvSpPr>
        <p:spPr/>
        <p:txBody>
          <a:body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97F68E97-0B6A-7F59-1D24-29D9C132D2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2BF9F0-E07F-8B25-3BF4-AB5684F3A89A}"/>
              </a:ext>
            </a:extLst>
          </p:cNvPr>
          <p:cNvSpPr>
            <a:spLocks noGrp="1"/>
          </p:cNvSpPr>
          <p:nvPr>
            <p:ph type="sldNum" sz="quarter" idx="12"/>
          </p:nvPr>
        </p:nvSpPr>
        <p:spPr/>
        <p:txBody>
          <a:bodyPr/>
          <a:lstStyle/>
          <a:p>
            <a:fld id="{94C710CE-ABBE-4DAB-97D7-5D4B65583F04}" type="slidenum">
              <a:rPr lang="en-IN" smtClean="0"/>
              <a:t>‹#›</a:t>
            </a:fld>
            <a:endParaRPr lang="en-IN"/>
          </a:p>
        </p:txBody>
      </p:sp>
    </p:spTree>
    <p:extLst>
      <p:ext uri="{BB962C8B-B14F-4D97-AF65-F5344CB8AC3E}">
        <p14:creationId xmlns:p14="http://schemas.microsoft.com/office/powerpoint/2010/main" val="388014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764B5-A696-548F-C66B-C2FEB2E98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258D9D-B1C5-8F33-896A-B2131E57AD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0C57E8-1D39-487B-2CE4-81E9C9B149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E8BC5E-F9EB-4856-9569-DAB715EE5463}" type="datetimeFigureOut">
              <a:rPr lang="en-IN" smtClean="0"/>
              <a:t>30-01-2026</a:t>
            </a:fld>
            <a:endParaRPr lang="en-IN"/>
          </a:p>
        </p:txBody>
      </p:sp>
      <p:sp>
        <p:nvSpPr>
          <p:cNvPr id="5" name="Footer Placeholder 4">
            <a:extLst>
              <a:ext uri="{FF2B5EF4-FFF2-40B4-BE49-F238E27FC236}">
                <a16:creationId xmlns:a16="http://schemas.microsoft.com/office/drawing/2014/main" id="{7C32F703-164E-B77F-E477-DCDC5C617C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4AD19F8-5B92-0E20-3551-B5AA9DC999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C710CE-ABBE-4DAB-97D7-5D4B65583F04}" type="slidenum">
              <a:rPr lang="en-IN" smtClean="0"/>
              <a:t>‹#›</a:t>
            </a:fld>
            <a:endParaRPr lang="en-IN"/>
          </a:p>
        </p:txBody>
      </p:sp>
    </p:spTree>
    <p:extLst>
      <p:ext uri="{BB962C8B-B14F-4D97-AF65-F5344CB8AC3E}">
        <p14:creationId xmlns:p14="http://schemas.microsoft.com/office/powerpoint/2010/main" val="14974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hyperlink" Target="https://www.datacamp.com/blog/data-science-in-marketing-customer-churn-rate-prediction" TargetMode="External" /><Relationship Id="rId2" Type="http://schemas.openxmlformats.org/officeDocument/2006/relationships/hyperlink" Target="https://www.datacamp.com/learn/ai" TargetMode="Externa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hyperlink" Target="https://scikit-learn.org/stable" TargetMode="External" /><Relationship Id="rId2" Type="http://schemas.openxmlformats.org/officeDocument/2006/relationships/hyperlink" Target="https://www.datacamp.com/blog/data-science-in-banking#applying-logistic-regression" TargetMode="External" /><Relationship Id="rId1" Type="http://schemas.openxmlformats.org/officeDocument/2006/relationships/slideLayout" Target="../slideLayouts/slideLayout2.xml" /><Relationship Id="rId6" Type="http://schemas.openxmlformats.org/officeDocument/2006/relationships/hyperlink" Target="https://pytorch.org/" TargetMode="External" /><Relationship Id="rId5" Type="http://schemas.openxmlformats.org/officeDocument/2006/relationships/hyperlink" Target="https://www.tensorflow.org/" TargetMode="External" /><Relationship Id="rId4" Type="http://schemas.openxmlformats.org/officeDocument/2006/relationships/hyperlink" Target="https://keras.io/" TargetMode="Externa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hyperlink" Target="https://numpy.org/" TargetMode="External" /><Relationship Id="rId2" Type="http://schemas.openxmlformats.org/officeDocument/2006/relationships/hyperlink" Target="https://pandas.pydata.org/" TargetMode="Externa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hyperlink" Target="https://seaborn.pydata.org/" TargetMode="External" /><Relationship Id="rId2" Type="http://schemas.openxmlformats.org/officeDocument/2006/relationships/hyperlink" Target="https://matplotlib.org/" TargetMode="Externa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8" Type="http://schemas.openxmlformats.org/officeDocument/2006/relationships/hyperlink" Target="https://toyplot.readthedocs.io/en/stable" TargetMode="External" /><Relationship Id="rId3" Type="http://schemas.openxmlformats.org/officeDocument/2006/relationships/hyperlink" Target="https://www.datacamp.com/courses/introduction-to-data-visualization-with-seaborn" TargetMode="External" /><Relationship Id="rId7" Type="http://schemas.openxmlformats.org/officeDocument/2006/relationships/hyperlink" Target="https://github.com/ResidentMario/missingno" TargetMode="External" /><Relationship Id="rId2" Type="http://schemas.openxmlformats.org/officeDocument/2006/relationships/hyperlink" Target="https://www.datacamp.com/courses/introduction-to-data-visualization-with-matplotlib" TargetMode="External" /><Relationship Id="rId1" Type="http://schemas.openxmlformats.org/officeDocument/2006/relationships/slideLayout" Target="../slideLayouts/slideLayout2.xml" /><Relationship Id="rId6" Type="http://schemas.openxmlformats.org/officeDocument/2006/relationships/hyperlink" Target="https://altair-viz.github.io/" TargetMode="External" /><Relationship Id="rId5" Type="http://schemas.openxmlformats.org/officeDocument/2006/relationships/hyperlink" Target="https://bokeh.org/" TargetMode="External" /><Relationship Id="rId4" Type="http://schemas.openxmlformats.org/officeDocument/2006/relationships/hyperlink" Target="https://plotly.com/" TargetMode="External" /><Relationship Id="rId9" Type="http://schemas.openxmlformats.org/officeDocument/2006/relationships/hyperlink" Target="https://geopandas.org/en/stable"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713A-0E1E-D962-025E-2B536ECA67E4}"/>
              </a:ext>
            </a:extLst>
          </p:cNvPr>
          <p:cNvSpPr>
            <a:spLocks noGrp="1"/>
          </p:cNvSpPr>
          <p:nvPr>
            <p:ph type="ctrTitle"/>
          </p:nvPr>
        </p:nvSpPr>
        <p:spPr/>
        <p:txBody>
          <a:bodyPr/>
          <a:lstStyle/>
          <a:p>
            <a:r>
              <a:rPr lang="en-US"/>
              <a:t>What is Python Used For?</a:t>
            </a:r>
            <a:br>
              <a:rPr lang="en-US"/>
            </a:br>
            <a:endParaRPr lang="en-IN"/>
          </a:p>
        </p:txBody>
      </p:sp>
      <p:sp>
        <p:nvSpPr>
          <p:cNvPr id="3" name="Subtitle 2">
            <a:extLst>
              <a:ext uri="{FF2B5EF4-FFF2-40B4-BE49-F238E27FC236}">
                <a16:creationId xmlns:a16="http://schemas.microsoft.com/office/drawing/2014/main" id="{CA35F679-5B37-4033-4F66-AE9C49402481}"/>
              </a:ext>
            </a:extLst>
          </p:cNvPr>
          <p:cNvSpPr>
            <a:spLocks noGrp="1"/>
          </p:cNvSpPr>
          <p:nvPr>
            <p:ph type="subTitle" idx="1"/>
          </p:nvPr>
        </p:nvSpPr>
        <p:spPr>
          <a:xfrm>
            <a:off x="1998482" y="3429000"/>
            <a:ext cx="8763786" cy="1951348"/>
          </a:xfrm>
        </p:spPr>
        <p:txBody>
          <a:bodyPr/>
          <a:lstStyle/>
          <a:p>
            <a:r>
              <a:rPr lang="en-US"/>
              <a:t>In this article, we have mentioned more than once that Python many applications. So, let's see where exactly we can use Python in the real world.</a:t>
            </a:r>
          </a:p>
          <a:p>
            <a:endParaRPr lang="en-US"/>
          </a:p>
        </p:txBody>
      </p:sp>
    </p:spTree>
    <p:extLst>
      <p:ext uri="{BB962C8B-B14F-4D97-AF65-F5344CB8AC3E}">
        <p14:creationId xmlns:p14="http://schemas.microsoft.com/office/powerpoint/2010/main" val="3393721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B513-5CFA-4815-0350-3E3D221D117C}"/>
              </a:ext>
            </a:extLst>
          </p:cNvPr>
          <p:cNvSpPr>
            <a:spLocks noGrp="1"/>
          </p:cNvSpPr>
          <p:nvPr>
            <p:ph type="title"/>
          </p:nvPr>
        </p:nvSpPr>
        <p:spPr/>
        <p:txBody>
          <a:bodyPr/>
          <a:lstStyle/>
          <a:p>
            <a:r>
              <a:rPr lang="en-IN"/>
              <a:t>1. Python for machine learning</a:t>
            </a:r>
            <a:br>
              <a:rPr lang="en-IN"/>
            </a:br>
            <a:endParaRPr lang="en-IN"/>
          </a:p>
        </p:txBody>
      </p:sp>
      <p:sp>
        <p:nvSpPr>
          <p:cNvPr id="3" name="Content Placeholder 2">
            <a:extLst>
              <a:ext uri="{FF2B5EF4-FFF2-40B4-BE49-F238E27FC236}">
                <a16:creationId xmlns:a16="http://schemas.microsoft.com/office/drawing/2014/main" id="{C801FCDA-C30F-8613-E746-AAAAFC8E8F54}"/>
              </a:ext>
            </a:extLst>
          </p:cNvPr>
          <p:cNvSpPr>
            <a:spLocks noGrp="1"/>
          </p:cNvSpPr>
          <p:nvPr>
            <p:ph idx="1"/>
          </p:nvPr>
        </p:nvSpPr>
        <p:spPr>
          <a:xfrm>
            <a:off x="1065229" y="1140644"/>
            <a:ext cx="10288571" cy="4970332"/>
          </a:xfrm>
        </p:spPr>
        <p:txBody>
          <a:bodyPr>
            <a:normAutofit/>
          </a:bodyPr>
          <a:lstStyle/>
          <a:p>
            <a:r>
              <a:rPr lang="en-US"/>
              <a:t>Machine learning (ML) is at the core of most data science tasks. It represents a field of </a:t>
            </a:r>
            <a:r>
              <a:rPr lang="en-US" b="1">
                <a:hlinkClick r:id="rId2"/>
              </a:rPr>
              <a:t>artificial intelligence (AI)</a:t>
            </a:r>
            <a:r>
              <a:rPr lang="en-US"/>
              <a:t> concerned with using algorithms to enable machines to learn patterns and trends from historical data to make predictions on unknown data. </a:t>
            </a:r>
          </a:p>
          <a:p>
            <a:r>
              <a:rPr lang="en-US"/>
              <a:t>Using ML techniques, we can create models that can accurately </a:t>
            </a:r>
            <a:r>
              <a:rPr lang="en-US" b="1">
                <a:hlinkClick r:id="rId3"/>
              </a:rPr>
              <a:t>predict the customer churn rate</a:t>
            </a:r>
            <a:r>
              <a:rPr lang="en-US"/>
              <a:t> of the company, estimate the risk of a person having a certain disease, identify the optimal positioning of taxi vehicles, etc.</a:t>
            </a:r>
          </a:p>
          <a:p>
            <a:pPr marL="0" indent="0">
              <a:buNone/>
            </a:pPr>
            <a:endParaRPr lang="en-US"/>
          </a:p>
        </p:txBody>
      </p:sp>
    </p:spTree>
    <p:extLst>
      <p:ext uri="{BB962C8B-B14F-4D97-AF65-F5344CB8AC3E}">
        <p14:creationId xmlns:p14="http://schemas.microsoft.com/office/powerpoint/2010/main" val="60554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6A46-5CBB-5D90-A083-9970501390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4D079A-9466-F6A0-6D40-0F2CAECFCAD7}"/>
              </a:ext>
            </a:extLst>
          </p:cNvPr>
          <p:cNvSpPr>
            <a:spLocks noGrp="1"/>
          </p:cNvSpPr>
          <p:nvPr>
            <p:ph idx="1"/>
          </p:nvPr>
        </p:nvSpPr>
        <p:spPr/>
        <p:txBody>
          <a:bodyPr/>
          <a:lstStyle/>
          <a:p>
            <a:r>
              <a:rPr lang="en-US"/>
              <a:t>With Python, we can build an ML model using as few as three lines of code (see </a:t>
            </a:r>
            <a:r>
              <a:rPr lang="en-US" b="1">
                <a:hlinkClick r:id="rId2"/>
              </a:rPr>
              <a:t>an example of such a model for predicting fraudulent bank transactions</a:t>
            </a:r>
            <a:r>
              <a:rPr lang="en-US"/>
              <a:t>). Even though there are complex processes and calculations behind those few lines of code, Python ML libraries do most of the work under the hood, which significantly facilitates the user's task. The most common libraries are </a:t>
            </a:r>
            <a:r>
              <a:rPr lang="en-US" b="1">
                <a:hlinkClick r:id="rId3"/>
              </a:rPr>
              <a:t>scikit-learn</a:t>
            </a:r>
            <a:r>
              <a:rPr lang="en-US"/>
              <a:t>, </a:t>
            </a:r>
            <a:r>
              <a:rPr lang="en-US" b="1" err="1">
                <a:hlinkClick r:id="rId4"/>
              </a:rPr>
              <a:t>Keras</a:t>
            </a:r>
            <a:r>
              <a:rPr lang="en-US"/>
              <a:t>, </a:t>
            </a:r>
            <a:r>
              <a:rPr lang="en-US" b="1">
                <a:hlinkClick r:id="rId5"/>
              </a:rPr>
              <a:t>TensorFlow</a:t>
            </a:r>
            <a:r>
              <a:rPr lang="en-US"/>
              <a:t>, and </a:t>
            </a:r>
            <a:r>
              <a:rPr lang="en-US" b="1" err="1">
                <a:hlinkClick r:id="rId6"/>
              </a:rPr>
              <a:t>PyTorch</a:t>
            </a:r>
            <a:r>
              <a:rPr lang="en-US"/>
              <a:t>.</a:t>
            </a:r>
            <a:endParaRPr lang="en-IN"/>
          </a:p>
        </p:txBody>
      </p:sp>
    </p:spTree>
    <p:extLst>
      <p:ext uri="{BB962C8B-B14F-4D97-AF65-F5344CB8AC3E}">
        <p14:creationId xmlns:p14="http://schemas.microsoft.com/office/powerpoint/2010/main" val="25208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0B86-0CD0-BD4E-4951-16D774D8B671}"/>
              </a:ext>
            </a:extLst>
          </p:cNvPr>
          <p:cNvSpPr>
            <a:spLocks noGrp="1"/>
          </p:cNvSpPr>
          <p:nvPr>
            <p:ph type="title"/>
          </p:nvPr>
        </p:nvSpPr>
        <p:spPr/>
        <p:txBody>
          <a:bodyPr/>
          <a:lstStyle/>
          <a:p>
            <a:r>
              <a:rPr lang="en-IN" b="1"/>
              <a:t>2. Python for data analysis</a:t>
            </a:r>
            <a:br>
              <a:rPr lang="en-IN" b="1"/>
            </a:br>
            <a:endParaRPr lang="en-IN"/>
          </a:p>
        </p:txBody>
      </p:sp>
      <p:sp>
        <p:nvSpPr>
          <p:cNvPr id="3" name="Content Placeholder 2">
            <a:extLst>
              <a:ext uri="{FF2B5EF4-FFF2-40B4-BE49-F238E27FC236}">
                <a16:creationId xmlns:a16="http://schemas.microsoft.com/office/drawing/2014/main" id="{5444401B-2753-8DD4-E6F8-70F21B696760}"/>
              </a:ext>
            </a:extLst>
          </p:cNvPr>
          <p:cNvSpPr>
            <a:spLocks noGrp="1"/>
          </p:cNvSpPr>
          <p:nvPr>
            <p:ph idx="1"/>
          </p:nvPr>
        </p:nvSpPr>
        <p:spPr/>
        <p:txBody>
          <a:bodyPr/>
          <a:lstStyle/>
          <a:p>
            <a:r>
              <a:rPr lang="en-US"/>
              <a:t>Data has become a truly precious asset in any modern industry, and most companies are interested in gathering, manipulating, and analyzing relevant data to extract meaningful business insights from it. And this is where Python goes beyond any competition. </a:t>
            </a:r>
          </a:p>
          <a:p>
            <a:r>
              <a:rPr lang="en-US"/>
              <a:t>Python is particularly valuable because, in addition to its comprehensive standard library, it provides an impressive collection of additional modules designed specifically for analytical purposes. </a:t>
            </a:r>
          </a:p>
          <a:p>
            <a:endParaRPr lang="en-IN"/>
          </a:p>
        </p:txBody>
      </p:sp>
    </p:spTree>
    <p:extLst>
      <p:ext uri="{BB962C8B-B14F-4D97-AF65-F5344CB8AC3E}">
        <p14:creationId xmlns:p14="http://schemas.microsoft.com/office/powerpoint/2010/main" val="425190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C8AF-D7B2-D539-A386-A21F8C6FAC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F9FF23-F2E9-BE3A-7884-98F0F10A35F8}"/>
              </a:ext>
            </a:extLst>
          </p:cNvPr>
          <p:cNvSpPr>
            <a:spLocks noGrp="1"/>
          </p:cNvSpPr>
          <p:nvPr>
            <p:ph idx="1"/>
          </p:nvPr>
        </p:nvSpPr>
        <p:spPr/>
        <p:txBody>
          <a:bodyPr/>
          <a:lstStyle/>
          <a:p>
            <a:r>
              <a:rPr lang="en-US"/>
              <a:t>The most famous Python libraries for conducting data analysis are </a:t>
            </a:r>
            <a:r>
              <a:rPr lang="en-US" b="1">
                <a:hlinkClick r:id="rId2"/>
              </a:rPr>
              <a:t>pandas</a:t>
            </a:r>
            <a:r>
              <a:rPr lang="en-US"/>
              <a:t> and </a:t>
            </a:r>
            <a:r>
              <a:rPr lang="en-US" b="1">
                <a:hlinkClick r:id="rId3"/>
              </a:rPr>
              <a:t>NumPy</a:t>
            </a:r>
            <a:r>
              <a:rPr lang="en-US"/>
              <a:t>. These tools allow you to do almost everything with your data, such as cleaning and wrangling it, exploring statistics, or visualizing hidden trends in your data.</a:t>
            </a:r>
          </a:p>
          <a:p>
            <a:r>
              <a:rPr lang="en-US"/>
              <a:t>Apart from these two libraries, you can use plenty of others for various data-related tasks, such as data visualization, web scraping, or hypothesis testing.</a:t>
            </a:r>
          </a:p>
          <a:p>
            <a:endParaRPr lang="en-IN"/>
          </a:p>
        </p:txBody>
      </p:sp>
    </p:spTree>
    <p:extLst>
      <p:ext uri="{BB962C8B-B14F-4D97-AF65-F5344CB8AC3E}">
        <p14:creationId xmlns:p14="http://schemas.microsoft.com/office/powerpoint/2010/main" val="1128437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05E0-333A-1AD0-7421-481E6410DED5}"/>
              </a:ext>
            </a:extLst>
          </p:cNvPr>
          <p:cNvSpPr>
            <a:spLocks noGrp="1"/>
          </p:cNvSpPr>
          <p:nvPr>
            <p:ph type="title"/>
          </p:nvPr>
        </p:nvSpPr>
        <p:spPr/>
        <p:txBody>
          <a:bodyPr/>
          <a:lstStyle/>
          <a:p>
            <a:r>
              <a:rPr lang="en-US" b="1"/>
              <a:t>3. Python for data visualization</a:t>
            </a:r>
            <a:br>
              <a:rPr lang="en-US" b="1"/>
            </a:br>
            <a:endParaRPr lang="en-IN"/>
          </a:p>
        </p:txBody>
      </p:sp>
      <p:sp>
        <p:nvSpPr>
          <p:cNvPr id="3" name="Content Placeholder 2">
            <a:extLst>
              <a:ext uri="{FF2B5EF4-FFF2-40B4-BE49-F238E27FC236}">
                <a16:creationId xmlns:a16="http://schemas.microsoft.com/office/drawing/2014/main" id="{492947B4-AE10-0B38-650D-4376DB510013}"/>
              </a:ext>
            </a:extLst>
          </p:cNvPr>
          <p:cNvSpPr>
            <a:spLocks noGrp="1"/>
          </p:cNvSpPr>
          <p:nvPr>
            <p:ph idx="1"/>
          </p:nvPr>
        </p:nvSpPr>
        <p:spPr/>
        <p:txBody>
          <a:bodyPr/>
          <a:lstStyle/>
          <a:p>
            <a:r>
              <a:rPr lang="en-US"/>
              <a:t>Data visualization is a stand-alone part of data analysis that helps us represent the information, whether raw or cleaned and transformed, in a more compelling and insightful form. </a:t>
            </a:r>
          </a:p>
          <a:p>
            <a:r>
              <a:rPr lang="en-US"/>
              <a:t>Here, Python comes into play again, offering a wide spectrum of tools for visualizing the data. The most popular of them are </a:t>
            </a:r>
            <a:r>
              <a:rPr lang="en-US" b="1">
                <a:hlinkClick r:id="rId2"/>
              </a:rPr>
              <a:t>matplotlib</a:t>
            </a:r>
            <a:r>
              <a:rPr lang="en-US"/>
              <a:t> and, based on it, </a:t>
            </a:r>
            <a:r>
              <a:rPr lang="en-US" b="1">
                <a:hlinkClick r:id="rId3"/>
              </a:rPr>
              <a:t>seaborn</a:t>
            </a:r>
            <a:r>
              <a:rPr lang="en-US"/>
              <a:t>. Using them, we can create literally all kinds of visualizations, from simple ones (line plots, bar charts, histograms) to more advanced ones (animated plots, streamlines, cluster maps, joy plots, etc.).</a:t>
            </a:r>
          </a:p>
          <a:p>
            <a:endParaRPr lang="en-IN"/>
          </a:p>
        </p:txBody>
      </p:sp>
    </p:spTree>
    <p:extLst>
      <p:ext uri="{BB962C8B-B14F-4D97-AF65-F5344CB8AC3E}">
        <p14:creationId xmlns:p14="http://schemas.microsoft.com/office/powerpoint/2010/main" val="3771164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78F14-2365-86DC-D9F9-00F1B07B76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48E8C6-C6F5-EC8A-C1EB-904C3A03765A}"/>
              </a:ext>
            </a:extLst>
          </p:cNvPr>
          <p:cNvSpPr>
            <a:spLocks noGrp="1"/>
          </p:cNvSpPr>
          <p:nvPr>
            <p:ph idx="1"/>
          </p:nvPr>
        </p:nvSpPr>
        <p:spPr/>
        <p:txBody>
          <a:bodyPr/>
          <a:lstStyle/>
          <a:p>
            <a:r>
              <a:rPr lang="en-US"/>
              <a:t>If you want to learn more about using these two Python libraries, you can take our courses </a:t>
            </a:r>
            <a:r>
              <a:rPr lang="en-US" b="1">
                <a:hlinkClick r:id="rId2"/>
              </a:rPr>
              <a:t>Introduction to Data Visualization with Matplotlib</a:t>
            </a:r>
            <a:r>
              <a:rPr lang="en-US"/>
              <a:t> and </a:t>
            </a:r>
            <a:r>
              <a:rPr lang="en-US" b="1">
                <a:hlinkClick r:id="rId3"/>
              </a:rPr>
              <a:t>Introduction to Data Visualization with Seaborn</a:t>
            </a:r>
            <a:r>
              <a:rPr lang="en-US"/>
              <a:t>.</a:t>
            </a:r>
          </a:p>
          <a:p>
            <a:r>
              <a:rPr lang="en-US"/>
              <a:t>There are also a plethora of other graphical libraries in Python: both multipurpose (such as </a:t>
            </a:r>
            <a:r>
              <a:rPr lang="en-US" b="1" err="1">
                <a:hlinkClick r:id="rId4"/>
              </a:rPr>
              <a:t>Plotly</a:t>
            </a:r>
            <a:r>
              <a:rPr lang="en-US"/>
              <a:t>, </a:t>
            </a:r>
            <a:r>
              <a:rPr lang="en-US" b="1">
                <a:hlinkClick r:id="rId5"/>
              </a:rPr>
              <a:t>Bokeh</a:t>
            </a:r>
            <a:r>
              <a:rPr lang="en-US"/>
              <a:t>, or </a:t>
            </a:r>
            <a:r>
              <a:rPr lang="en-US" b="1">
                <a:hlinkClick r:id="rId6"/>
              </a:rPr>
              <a:t>Altair</a:t>
            </a:r>
            <a:r>
              <a:rPr lang="en-US"/>
              <a:t>) and more focused ones (</a:t>
            </a:r>
            <a:r>
              <a:rPr lang="en-US" b="1" err="1">
                <a:hlinkClick r:id="rId7"/>
              </a:rPr>
              <a:t>missingno</a:t>
            </a:r>
            <a:r>
              <a:rPr lang="en-US"/>
              <a:t> for visualizing missing values, </a:t>
            </a:r>
            <a:r>
              <a:rPr lang="en-US" b="1" err="1">
                <a:hlinkClick r:id="rId8"/>
              </a:rPr>
              <a:t>Toyplot</a:t>
            </a:r>
            <a:r>
              <a:rPr lang="en-US"/>
              <a:t> for creating interactive plots for electronic publishing, </a:t>
            </a:r>
            <a:r>
              <a:rPr lang="en-US" b="1" err="1">
                <a:hlinkClick r:id="rId9"/>
              </a:rPr>
              <a:t>GeoPandas</a:t>
            </a:r>
            <a:r>
              <a:rPr lang="en-US"/>
              <a:t> for building maps, etc.).</a:t>
            </a:r>
          </a:p>
          <a:p>
            <a:endParaRPr lang="en-IN"/>
          </a:p>
        </p:txBody>
      </p:sp>
    </p:spTree>
    <p:extLst>
      <p:ext uri="{BB962C8B-B14F-4D97-AF65-F5344CB8AC3E}">
        <p14:creationId xmlns:p14="http://schemas.microsoft.com/office/powerpoint/2010/main" val="107825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What is Python Used For? </vt:lpstr>
      <vt:lpstr>1. Python for machine learning </vt:lpstr>
      <vt:lpstr>PowerPoint Presentation</vt:lpstr>
      <vt:lpstr>2. Python for data analysis </vt:lpstr>
      <vt:lpstr>PowerPoint Presentation</vt:lpstr>
      <vt:lpstr>3. Python for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Python Used For? </dc:title>
  <dc:creator>mandar gujar</dc:creator>
  <cp:lastModifiedBy>Supriya Chorghade</cp:lastModifiedBy>
  <cp:revision>1</cp:revision>
  <dcterms:created xsi:type="dcterms:W3CDTF">2026-01-30T06:03:05Z</dcterms:created>
  <dcterms:modified xsi:type="dcterms:W3CDTF">2026-01-30T07:50:10Z</dcterms:modified>
</cp:coreProperties>
</file>